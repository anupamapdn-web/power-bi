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PAMA P" userId="8774174340735901" providerId="LiveId" clId="{FB2058AB-0D71-4CF2-BF22-FD024C6E13E4}"/>
    <pc:docChg chg="modSld">
      <pc:chgData name="ANUPAMA P" userId="8774174340735901" providerId="LiveId" clId="{FB2058AB-0D71-4CF2-BF22-FD024C6E13E4}" dt="2025-08-14T01:21:37.542" v="107" actId="20577"/>
      <pc:docMkLst>
        <pc:docMk/>
      </pc:docMkLst>
      <pc:sldChg chg="modSp mod">
        <pc:chgData name="ANUPAMA P" userId="8774174340735901" providerId="LiveId" clId="{FB2058AB-0D71-4CF2-BF22-FD024C6E13E4}" dt="2025-08-14T01:21:37.542" v="107" actId="20577"/>
        <pc:sldMkLst>
          <pc:docMk/>
          <pc:sldMk cId="1342607683" sldId="258"/>
        </pc:sldMkLst>
        <pc:spChg chg="mod">
          <ac:chgData name="ANUPAMA P" userId="8774174340735901" providerId="LiveId" clId="{FB2058AB-0D71-4CF2-BF22-FD024C6E13E4}" dt="2025-08-14T01:21:37.542" v="107" actId="20577"/>
          <ac:spMkLst>
            <pc:docMk/>
            <pc:sldMk cId="1342607683" sldId="258"/>
            <ac:spMk id="4" creationId="{E542312A-BC93-C73E-A9E0-7ABCB66CBC62}"/>
          </ac:spMkLst>
        </pc:spChg>
      </pc:sldChg>
      <pc:sldChg chg="modSp mod">
        <pc:chgData name="ANUPAMA P" userId="8774174340735901" providerId="LiveId" clId="{FB2058AB-0D71-4CF2-BF22-FD024C6E13E4}" dt="2025-08-14T01:07:33.446" v="84" actId="20577"/>
        <pc:sldMkLst>
          <pc:docMk/>
          <pc:sldMk cId="1623347993" sldId="260"/>
        </pc:sldMkLst>
        <pc:spChg chg="mod">
          <ac:chgData name="ANUPAMA P" userId="8774174340735901" providerId="LiveId" clId="{FB2058AB-0D71-4CF2-BF22-FD024C6E13E4}" dt="2025-08-14T01:07:33.446" v="84" actId="20577"/>
          <ac:spMkLst>
            <pc:docMk/>
            <pc:sldMk cId="1623347993" sldId="260"/>
            <ac:spMk id="4" creationId="{880960A2-D337-720E-D43C-2EAE41799E9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8/14/2025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F307-7618-FB71-2076-006EB6015454}"/>
              </a:ext>
            </a:extLst>
          </p:cNvPr>
          <p:cNvSpPr>
            <a:spLocks noGrp="1"/>
          </p:cNvSpPr>
          <p:nvPr>
            <p:ph type="ctrTitle"/>
          </p:nvPr>
        </p:nvSpPr>
        <p:spPr/>
        <p:txBody>
          <a:bodyPr/>
          <a:lstStyle/>
          <a:p>
            <a:r>
              <a:rPr lang="en-IN" dirty="0">
                <a:ln>
                  <a:solidFill>
                    <a:schemeClr val="tx1"/>
                  </a:solidFill>
                </a:ln>
              </a:rPr>
              <a:t>IBM HR ANALYTICS </a:t>
            </a:r>
            <a:br>
              <a:rPr lang="en-IN" dirty="0">
                <a:ln>
                  <a:solidFill>
                    <a:schemeClr val="tx1"/>
                  </a:solidFill>
                </a:ln>
              </a:rPr>
            </a:br>
            <a:r>
              <a:rPr lang="en-IN" dirty="0">
                <a:ln>
                  <a:solidFill>
                    <a:schemeClr val="tx1"/>
                  </a:solidFill>
                </a:ln>
              </a:rPr>
              <a:t>EMPLOYEE ATTRITION </a:t>
            </a:r>
            <a:br>
              <a:rPr lang="en-IN" dirty="0">
                <a:ln>
                  <a:solidFill>
                    <a:schemeClr val="tx1"/>
                  </a:solidFill>
                </a:ln>
              </a:rPr>
            </a:br>
            <a:r>
              <a:rPr lang="en-IN" dirty="0">
                <a:ln>
                  <a:solidFill>
                    <a:schemeClr val="tx1"/>
                  </a:solidFill>
                </a:ln>
              </a:rPr>
              <a:t>ANALYSIS</a:t>
            </a:r>
          </a:p>
        </p:txBody>
      </p:sp>
      <p:sp>
        <p:nvSpPr>
          <p:cNvPr id="3" name="Subtitle 2">
            <a:extLst>
              <a:ext uri="{FF2B5EF4-FFF2-40B4-BE49-F238E27FC236}">
                <a16:creationId xmlns:a16="http://schemas.microsoft.com/office/drawing/2014/main" id="{34F6EAC7-B0FC-CFD3-F7CA-68784B0DF411}"/>
              </a:ext>
            </a:extLst>
          </p:cNvPr>
          <p:cNvSpPr>
            <a:spLocks noGrp="1"/>
          </p:cNvSpPr>
          <p:nvPr>
            <p:ph type="subTitle" idx="1"/>
          </p:nvPr>
        </p:nvSpPr>
        <p:spPr>
          <a:xfrm>
            <a:off x="1100015" y="4424516"/>
            <a:ext cx="7315200" cy="1160130"/>
          </a:xfrm>
        </p:spPr>
        <p:txBody>
          <a:bodyPr>
            <a:normAutofit fontScale="92500" lnSpcReduction="10000"/>
          </a:bodyPr>
          <a:lstStyle/>
          <a:p>
            <a:pPr algn="r"/>
            <a:r>
              <a:rPr lang="en-IN" b="1" dirty="0">
                <a:solidFill>
                  <a:schemeClr val="tx1"/>
                </a:solidFill>
              </a:rPr>
              <a:t>Presented by</a:t>
            </a:r>
          </a:p>
          <a:p>
            <a:pPr algn="r"/>
            <a:r>
              <a:rPr lang="en-IN" b="1" dirty="0">
                <a:solidFill>
                  <a:schemeClr val="tx1"/>
                </a:solidFill>
              </a:rPr>
              <a:t>Anupama P</a:t>
            </a:r>
          </a:p>
          <a:p>
            <a:pPr algn="r"/>
            <a:r>
              <a:rPr lang="en-IN" b="1" dirty="0">
                <a:solidFill>
                  <a:schemeClr val="tx1"/>
                </a:solidFill>
              </a:rPr>
              <a:t>Data Analytics</a:t>
            </a:r>
          </a:p>
        </p:txBody>
      </p:sp>
    </p:spTree>
    <p:extLst>
      <p:ext uri="{BB962C8B-B14F-4D97-AF65-F5344CB8AC3E}">
        <p14:creationId xmlns:p14="http://schemas.microsoft.com/office/powerpoint/2010/main" val="2542409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5DF572-F0AA-C8C1-E4A2-A14C11F6ADB4}"/>
              </a:ext>
            </a:extLst>
          </p:cNvPr>
          <p:cNvSpPr txBox="1"/>
          <p:nvPr/>
        </p:nvSpPr>
        <p:spPr>
          <a:xfrm>
            <a:off x="1002890" y="688258"/>
            <a:ext cx="4739149" cy="769441"/>
          </a:xfrm>
          <a:prstGeom prst="rect">
            <a:avLst/>
          </a:prstGeom>
          <a:noFill/>
        </p:spPr>
        <p:txBody>
          <a:bodyPr wrap="square" rtlCol="0">
            <a:spAutoFit/>
          </a:bodyPr>
          <a:lstStyle/>
          <a:p>
            <a:r>
              <a:rPr lang="en-IN" sz="4400" dirty="0"/>
              <a:t>INTRODUCTION</a:t>
            </a:r>
          </a:p>
        </p:txBody>
      </p:sp>
      <p:sp>
        <p:nvSpPr>
          <p:cNvPr id="4" name="TextBox 3">
            <a:extLst>
              <a:ext uri="{FF2B5EF4-FFF2-40B4-BE49-F238E27FC236}">
                <a16:creationId xmlns:a16="http://schemas.microsoft.com/office/drawing/2014/main" id="{E155F46C-C333-8FB1-CD08-A40C206CA8F9}"/>
              </a:ext>
            </a:extLst>
          </p:cNvPr>
          <p:cNvSpPr txBox="1"/>
          <p:nvPr/>
        </p:nvSpPr>
        <p:spPr>
          <a:xfrm>
            <a:off x="3490452" y="2359742"/>
            <a:ext cx="6636774"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This presentation explores employee attrition at IBM using a comprehensive HR analytics dashboard. </a:t>
            </a:r>
          </a:p>
          <a:p>
            <a:pPr marL="457200" indent="-457200">
              <a:buFont typeface="Arial" panose="020B0604020202020204" pitchFamily="34" charset="0"/>
              <a:buChar char="•"/>
            </a:pPr>
            <a:r>
              <a:rPr lang="en-US" sz="2800" dirty="0"/>
              <a:t>The goal is to uncover patterns and factors contributing to employee turnover, and to provide actionable insights</a:t>
            </a:r>
            <a:endParaRPr lang="en-IN" sz="2800" dirty="0"/>
          </a:p>
        </p:txBody>
      </p:sp>
    </p:spTree>
    <p:extLst>
      <p:ext uri="{BB962C8B-B14F-4D97-AF65-F5344CB8AC3E}">
        <p14:creationId xmlns:p14="http://schemas.microsoft.com/office/powerpoint/2010/main" val="2643941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819747-197D-C647-FC4F-366E09716193}"/>
              </a:ext>
            </a:extLst>
          </p:cNvPr>
          <p:cNvSpPr txBox="1"/>
          <p:nvPr/>
        </p:nvSpPr>
        <p:spPr>
          <a:xfrm>
            <a:off x="648928" y="1120877"/>
            <a:ext cx="2389239" cy="523220"/>
          </a:xfrm>
          <a:prstGeom prst="rect">
            <a:avLst/>
          </a:prstGeom>
          <a:noFill/>
        </p:spPr>
        <p:txBody>
          <a:bodyPr wrap="square" rtlCol="0">
            <a:spAutoFit/>
          </a:bodyPr>
          <a:lstStyle/>
          <a:p>
            <a:r>
              <a:rPr lang="en-IN" sz="2800" dirty="0"/>
              <a:t>OBJECTIVES</a:t>
            </a:r>
          </a:p>
        </p:txBody>
      </p:sp>
      <p:sp>
        <p:nvSpPr>
          <p:cNvPr id="4" name="TextBox 3">
            <a:extLst>
              <a:ext uri="{FF2B5EF4-FFF2-40B4-BE49-F238E27FC236}">
                <a16:creationId xmlns:a16="http://schemas.microsoft.com/office/drawing/2014/main" id="{E542312A-BC93-C73E-A9E0-7ABCB66CBC62}"/>
              </a:ext>
            </a:extLst>
          </p:cNvPr>
          <p:cNvSpPr txBox="1"/>
          <p:nvPr/>
        </p:nvSpPr>
        <p:spPr>
          <a:xfrm>
            <a:off x="4483510" y="1120877"/>
            <a:ext cx="6135329" cy="4247317"/>
          </a:xfrm>
          <a:prstGeom prst="rect">
            <a:avLst/>
          </a:prstGeom>
          <a:noFill/>
        </p:spPr>
        <p:txBody>
          <a:bodyPr wrap="square" rtlCol="0">
            <a:spAutoFit/>
          </a:bodyPr>
          <a:lstStyle/>
          <a:p>
            <a:pPr marL="285750" indent="-285750">
              <a:buFont typeface="Arial" panose="020B0604020202020204" pitchFamily="34" charset="0"/>
              <a:buChar char="•"/>
            </a:pPr>
            <a:r>
              <a:rPr lang="en-US" sz="3000" dirty="0"/>
              <a:t>Analyze employee attrition </a:t>
            </a:r>
            <a:r>
              <a:rPr lang="en-US" sz="3000"/>
              <a:t>across departments and job levels</a:t>
            </a:r>
            <a:endParaRPr lang="en-US" sz="3000" dirty="0"/>
          </a:p>
          <a:p>
            <a:pPr marL="285750" indent="-285750">
              <a:buFont typeface="Arial" panose="020B0604020202020204" pitchFamily="34" charset="0"/>
              <a:buChar char="•"/>
            </a:pPr>
            <a:r>
              <a:rPr lang="en-US" sz="3000" dirty="0"/>
              <a:t>Identify key drivers such as age, overtime, and marital status</a:t>
            </a:r>
          </a:p>
          <a:p>
            <a:pPr marL="285750" indent="-285750">
              <a:buFont typeface="Arial" panose="020B0604020202020204" pitchFamily="34" charset="0"/>
              <a:buChar char="•"/>
            </a:pPr>
            <a:r>
              <a:rPr lang="en-US" sz="3000" dirty="0"/>
              <a:t>Highlight areas with high turnover risk</a:t>
            </a:r>
          </a:p>
          <a:p>
            <a:pPr marL="285750" indent="-285750">
              <a:buFont typeface="Arial" panose="020B0604020202020204" pitchFamily="34" charset="0"/>
              <a:buChar char="•"/>
            </a:pPr>
            <a:r>
              <a:rPr lang="en-US" sz="3000" dirty="0"/>
              <a:t> Provide recommendations to improve employee retention</a:t>
            </a:r>
          </a:p>
          <a:p>
            <a:endParaRPr lang="en-IN" sz="3000" dirty="0"/>
          </a:p>
        </p:txBody>
      </p:sp>
    </p:spTree>
    <p:extLst>
      <p:ext uri="{BB962C8B-B14F-4D97-AF65-F5344CB8AC3E}">
        <p14:creationId xmlns:p14="http://schemas.microsoft.com/office/powerpoint/2010/main" val="1342607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9FEE04-DC42-3EF3-910D-1530FDD11116}"/>
              </a:ext>
            </a:extLst>
          </p:cNvPr>
          <p:cNvSpPr/>
          <p:nvPr/>
        </p:nvSpPr>
        <p:spPr>
          <a:xfrm>
            <a:off x="10432026" y="3429000"/>
            <a:ext cx="1759974" cy="3429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5A16C94-48B1-2EFC-D8F4-3E320B5668D5}"/>
              </a:ext>
            </a:extLst>
          </p:cNvPr>
          <p:cNvSpPr/>
          <p:nvPr/>
        </p:nvSpPr>
        <p:spPr>
          <a:xfrm>
            <a:off x="0" y="-1"/>
            <a:ext cx="3264310" cy="142567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B2C95ECB-261B-976D-FC09-36F48A20CC55}"/>
              </a:ext>
            </a:extLst>
          </p:cNvPr>
          <p:cNvSpPr txBox="1"/>
          <p:nvPr/>
        </p:nvSpPr>
        <p:spPr>
          <a:xfrm>
            <a:off x="3431458" y="889873"/>
            <a:ext cx="3372464" cy="707886"/>
          </a:xfrm>
          <a:prstGeom prst="rect">
            <a:avLst/>
          </a:prstGeom>
          <a:noFill/>
        </p:spPr>
        <p:txBody>
          <a:bodyPr wrap="square" rtlCol="0">
            <a:spAutoFit/>
          </a:bodyPr>
          <a:lstStyle/>
          <a:p>
            <a:r>
              <a:rPr lang="en-IN" sz="4000" dirty="0"/>
              <a:t>DATASET</a:t>
            </a:r>
          </a:p>
        </p:txBody>
      </p:sp>
      <p:sp>
        <p:nvSpPr>
          <p:cNvPr id="6" name="TextBox 5">
            <a:extLst>
              <a:ext uri="{FF2B5EF4-FFF2-40B4-BE49-F238E27FC236}">
                <a16:creationId xmlns:a16="http://schemas.microsoft.com/office/drawing/2014/main" id="{EB2A7667-D898-A048-73E7-2B54A8E43DA5}"/>
              </a:ext>
            </a:extLst>
          </p:cNvPr>
          <p:cNvSpPr txBox="1"/>
          <p:nvPr/>
        </p:nvSpPr>
        <p:spPr>
          <a:xfrm>
            <a:off x="3106994" y="2310580"/>
            <a:ext cx="5683045" cy="2718693"/>
          </a:xfrm>
          <a:prstGeom prst="rect">
            <a:avLst/>
          </a:prstGeom>
          <a:noFill/>
        </p:spPr>
        <p:txBody>
          <a:bodyPr wrap="square" rtlCol="0">
            <a:spAutoFit/>
          </a:bodyPr>
          <a:lstStyle/>
          <a:p>
            <a:pPr marL="680387" lvl="1" indent="-340193">
              <a:lnSpc>
                <a:spcPts val="4411"/>
              </a:lnSpc>
              <a:buFont typeface="Arial"/>
              <a:buChar char="•"/>
            </a:pPr>
            <a:r>
              <a:rPr lang="en-US" sz="2400" b="1" dirty="0">
                <a:latin typeface="DM Sans Bold"/>
                <a:ea typeface="DM Sans Bold"/>
                <a:cs typeface="DM Sans Bold"/>
                <a:sym typeface="DM Sans Bold"/>
              </a:rPr>
              <a:t>Source of the Dataset:</a:t>
            </a:r>
            <a:r>
              <a:rPr lang="en-US" sz="2400" dirty="0">
                <a:latin typeface="DM Sans"/>
                <a:ea typeface="DM Sans"/>
                <a:cs typeface="DM Sans"/>
                <a:sym typeface="DM Sans"/>
              </a:rPr>
              <a:t> Kaggle</a:t>
            </a:r>
          </a:p>
          <a:p>
            <a:pPr marL="680387" lvl="1" indent="-340193">
              <a:lnSpc>
                <a:spcPts val="4411"/>
              </a:lnSpc>
              <a:buFont typeface="Arial"/>
              <a:buChar char="•"/>
            </a:pPr>
            <a:r>
              <a:rPr lang="en-US" sz="2400" b="1" dirty="0">
                <a:latin typeface="DM Sans Bold"/>
                <a:ea typeface="DM Sans Bold"/>
                <a:cs typeface="DM Sans Bold"/>
                <a:sym typeface="DM Sans Bold"/>
              </a:rPr>
              <a:t>Number of columns:</a:t>
            </a:r>
            <a:r>
              <a:rPr lang="en-US" sz="2400" dirty="0">
                <a:latin typeface="DM Sans"/>
                <a:ea typeface="DM Sans"/>
                <a:cs typeface="DM Sans"/>
                <a:sym typeface="DM Sans"/>
              </a:rPr>
              <a:t> 35</a:t>
            </a:r>
          </a:p>
          <a:p>
            <a:pPr marL="680387" lvl="1" indent="-340193">
              <a:lnSpc>
                <a:spcPts val="4411"/>
              </a:lnSpc>
              <a:buFont typeface="Arial"/>
              <a:buChar char="•"/>
            </a:pPr>
            <a:r>
              <a:rPr lang="en-US" sz="2400" b="1" dirty="0">
                <a:latin typeface="DM Sans Bold"/>
                <a:ea typeface="DM Sans Bold"/>
                <a:cs typeface="DM Sans Bold"/>
                <a:sym typeface="DM Sans Bold"/>
              </a:rPr>
              <a:t>Number of rows:</a:t>
            </a:r>
            <a:r>
              <a:rPr lang="en-US" sz="2400" dirty="0">
                <a:latin typeface="DM Sans"/>
                <a:ea typeface="DM Sans"/>
                <a:cs typeface="DM Sans"/>
                <a:sym typeface="DM Sans"/>
              </a:rPr>
              <a:t> 1470</a:t>
            </a:r>
          </a:p>
          <a:p>
            <a:pPr marL="680387" lvl="1" indent="-340193">
              <a:lnSpc>
                <a:spcPts val="4411"/>
              </a:lnSpc>
              <a:buFont typeface="Arial"/>
              <a:buChar char="•"/>
            </a:pPr>
            <a:r>
              <a:rPr lang="en-US" sz="2400" b="1" dirty="0">
                <a:latin typeface="DM Sans Bold"/>
                <a:ea typeface="DM Sans Bold"/>
                <a:cs typeface="DM Sans Bold"/>
                <a:sym typeface="DM Sans Bold"/>
              </a:rPr>
              <a:t>Time period:</a:t>
            </a:r>
            <a:r>
              <a:rPr lang="en-US" sz="2400" dirty="0">
                <a:latin typeface="DM Sans"/>
                <a:ea typeface="DM Sans"/>
                <a:cs typeface="DM Sans"/>
                <a:sym typeface="DM Sans"/>
              </a:rPr>
              <a:t> 2021</a:t>
            </a:r>
          </a:p>
          <a:p>
            <a:endParaRPr lang="en-IN" sz="2400" dirty="0"/>
          </a:p>
        </p:txBody>
      </p:sp>
    </p:spTree>
    <p:extLst>
      <p:ext uri="{BB962C8B-B14F-4D97-AF65-F5344CB8AC3E}">
        <p14:creationId xmlns:p14="http://schemas.microsoft.com/office/powerpoint/2010/main" val="195257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23BF97-1370-E288-7813-60D4092256FE}"/>
              </a:ext>
            </a:extLst>
          </p:cNvPr>
          <p:cNvSpPr txBox="1"/>
          <p:nvPr/>
        </p:nvSpPr>
        <p:spPr>
          <a:xfrm>
            <a:off x="0" y="698007"/>
            <a:ext cx="3576171" cy="646331"/>
          </a:xfrm>
          <a:prstGeom prst="rect">
            <a:avLst/>
          </a:prstGeom>
          <a:noFill/>
        </p:spPr>
        <p:txBody>
          <a:bodyPr wrap="square" rtlCol="0">
            <a:spAutoFit/>
          </a:bodyPr>
          <a:lstStyle/>
          <a:p>
            <a:r>
              <a:rPr lang="en-IN" sz="3600" dirty="0"/>
              <a:t>VISUALIZATION</a:t>
            </a:r>
          </a:p>
        </p:txBody>
      </p:sp>
      <p:sp>
        <p:nvSpPr>
          <p:cNvPr id="4" name="TextBox 3">
            <a:extLst>
              <a:ext uri="{FF2B5EF4-FFF2-40B4-BE49-F238E27FC236}">
                <a16:creationId xmlns:a16="http://schemas.microsoft.com/office/drawing/2014/main" id="{880960A2-D337-720E-D43C-2EAE41799E95}"/>
              </a:ext>
            </a:extLst>
          </p:cNvPr>
          <p:cNvSpPr txBox="1"/>
          <p:nvPr/>
        </p:nvSpPr>
        <p:spPr>
          <a:xfrm>
            <a:off x="835742" y="1504335"/>
            <a:ext cx="10844981" cy="4047262"/>
          </a:xfrm>
          <a:prstGeom prst="rect">
            <a:avLst/>
          </a:prstGeom>
          <a:noFill/>
        </p:spPr>
        <p:txBody>
          <a:bodyPr wrap="square" rtlCol="0">
            <a:spAutoFit/>
          </a:bodyPr>
          <a:lstStyle/>
          <a:p>
            <a:pPr marL="642564" lvl="1" indent="-321282">
              <a:lnSpc>
                <a:spcPts val="4166"/>
              </a:lnSpc>
              <a:buFont typeface="Arial"/>
              <a:buChar char="•"/>
            </a:pPr>
            <a:r>
              <a:rPr lang="en-US" sz="2000" b="1" dirty="0">
                <a:latin typeface="DM Sans Bold"/>
                <a:ea typeface="DM Sans"/>
                <a:cs typeface="DM Sans"/>
                <a:sym typeface="DM Sans Bold"/>
              </a:rPr>
              <a:t>Visualization Tool: </a:t>
            </a:r>
            <a:r>
              <a:rPr lang="en-US" sz="2000" dirty="0" err="1">
                <a:latin typeface="DM Sans Bold"/>
                <a:ea typeface="DM Sans"/>
                <a:cs typeface="DM Sans"/>
                <a:sym typeface="DM Sans Bold"/>
              </a:rPr>
              <a:t>PowerBi</a:t>
            </a:r>
            <a:endParaRPr lang="en-US" sz="2000" dirty="0">
              <a:latin typeface="DM Sans"/>
              <a:ea typeface="DM Sans"/>
              <a:cs typeface="DM Sans"/>
              <a:sym typeface="DM Sans"/>
            </a:endParaRPr>
          </a:p>
          <a:p>
            <a:pPr marL="642564" lvl="1" indent="-321282">
              <a:lnSpc>
                <a:spcPts val="4166"/>
              </a:lnSpc>
              <a:buFont typeface="Arial"/>
              <a:buChar char="•"/>
            </a:pPr>
            <a:r>
              <a:rPr lang="en-US" sz="2000" b="1" dirty="0">
                <a:latin typeface="DM Sans Bold"/>
                <a:ea typeface="DM Sans Bold"/>
                <a:cs typeface="DM Sans Bold"/>
                <a:sym typeface="DM Sans Bold"/>
              </a:rPr>
              <a:t>Key Visuals:</a:t>
            </a:r>
          </a:p>
          <a:p>
            <a:pPr marL="1285127" lvl="2" indent="-428376">
              <a:lnSpc>
                <a:spcPts val="4166"/>
              </a:lnSpc>
              <a:buFont typeface="Arial"/>
              <a:buChar char="⚬"/>
            </a:pPr>
            <a:r>
              <a:rPr lang="en-US" sz="2000" dirty="0">
                <a:latin typeface="DM Sans"/>
                <a:ea typeface="DM Sans"/>
                <a:cs typeface="DM Sans"/>
                <a:sym typeface="DM Sans"/>
              </a:rPr>
              <a:t>Pie Chart: Relation between Marital Status and Attrition rate.</a:t>
            </a:r>
          </a:p>
          <a:p>
            <a:pPr marL="1285127" lvl="2" indent="-428376">
              <a:lnSpc>
                <a:spcPts val="4166"/>
              </a:lnSpc>
              <a:buFont typeface="Arial"/>
              <a:buChar char="⚬"/>
            </a:pPr>
            <a:r>
              <a:rPr lang="en-US" sz="2000" dirty="0">
                <a:latin typeface="DM Sans"/>
                <a:ea typeface="DM Sans"/>
                <a:cs typeface="DM Sans"/>
                <a:sym typeface="DM Sans"/>
              </a:rPr>
              <a:t>100% Stocked Bar Chart: To analyze Department-wise attrition.</a:t>
            </a:r>
          </a:p>
          <a:p>
            <a:pPr marL="1285127" lvl="2" indent="-428376">
              <a:lnSpc>
                <a:spcPts val="4166"/>
              </a:lnSpc>
              <a:buFont typeface="Arial"/>
              <a:buChar char="⚬"/>
            </a:pPr>
            <a:r>
              <a:rPr lang="en-US" sz="2000" dirty="0">
                <a:latin typeface="DM Sans"/>
                <a:ea typeface="DM Sans"/>
                <a:cs typeface="DM Sans"/>
                <a:sym typeface="DM Sans"/>
              </a:rPr>
              <a:t>100% Stocked Column Chart: To analyze role of overtime work.</a:t>
            </a:r>
          </a:p>
          <a:p>
            <a:pPr marL="1285127" lvl="2" indent="-428376">
              <a:lnSpc>
                <a:spcPts val="4166"/>
              </a:lnSpc>
              <a:buFont typeface="Arial"/>
              <a:buChar char="⚬"/>
            </a:pPr>
            <a:r>
              <a:rPr lang="en-US" sz="2000" dirty="0">
                <a:latin typeface="DM Sans"/>
                <a:ea typeface="DM Sans"/>
                <a:cs typeface="DM Sans"/>
                <a:sym typeface="DM Sans"/>
              </a:rPr>
              <a:t>Line Chart: To understand part of job level.</a:t>
            </a:r>
          </a:p>
          <a:p>
            <a:pPr marL="1285127" lvl="2" indent="-428376">
              <a:lnSpc>
                <a:spcPts val="4166"/>
              </a:lnSpc>
              <a:buFont typeface="Arial"/>
              <a:buChar char="⚬"/>
            </a:pPr>
            <a:r>
              <a:rPr lang="en-US" sz="2000" dirty="0">
                <a:latin typeface="DM Sans"/>
                <a:ea typeface="DM Sans"/>
                <a:cs typeface="DM Sans"/>
                <a:sym typeface="DM Sans"/>
              </a:rPr>
              <a:t>Clustered Column Chart: To know role of age in employee attrition.</a:t>
            </a:r>
            <a:endParaRPr lang="en-US" sz="1200" dirty="0">
              <a:latin typeface="DM Sans"/>
              <a:ea typeface="DM Sans"/>
              <a:cs typeface="DM Sans"/>
              <a:sym typeface="DM Sans"/>
            </a:endParaRPr>
          </a:p>
          <a:p>
            <a:endParaRPr lang="en-IN" sz="1200" dirty="0"/>
          </a:p>
        </p:txBody>
      </p:sp>
    </p:spTree>
    <p:extLst>
      <p:ext uri="{BB962C8B-B14F-4D97-AF65-F5344CB8AC3E}">
        <p14:creationId xmlns:p14="http://schemas.microsoft.com/office/powerpoint/2010/main" val="1623347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FB6B4-B0D0-C0BB-BC46-F27147DFA94C}"/>
              </a:ext>
            </a:extLst>
          </p:cNvPr>
          <p:cNvSpPr txBox="1"/>
          <p:nvPr/>
        </p:nvSpPr>
        <p:spPr>
          <a:xfrm>
            <a:off x="1111046" y="245806"/>
            <a:ext cx="5987845" cy="584775"/>
          </a:xfrm>
          <a:prstGeom prst="rect">
            <a:avLst/>
          </a:prstGeom>
          <a:noFill/>
        </p:spPr>
        <p:txBody>
          <a:bodyPr wrap="square" rtlCol="0">
            <a:spAutoFit/>
          </a:bodyPr>
          <a:lstStyle/>
          <a:p>
            <a:r>
              <a:rPr lang="en-IN" sz="3200" dirty="0"/>
              <a:t>KEY INSIGHTS</a:t>
            </a:r>
          </a:p>
        </p:txBody>
      </p:sp>
      <p:sp>
        <p:nvSpPr>
          <p:cNvPr id="4" name="TextBox 3">
            <a:extLst>
              <a:ext uri="{FF2B5EF4-FFF2-40B4-BE49-F238E27FC236}">
                <a16:creationId xmlns:a16="http://schemas.microsoft.com/office/drawing/2014/main" id="{8CCC766A-3383-1321-9714-96354116D2B6}"/>
              </a:ext>
            </a:extLst>
          </p:cNvPr>
          <p:cNvSpPr txBox="1"/>
          <p:nvPr/>
        </p:nvSpPr>
        <p:spPr>
          <a:xfrm>
            <a:off x="3126658" y="1704384"/>
            <a:ext cx="8091948" cy="3816429"/>
          </a:xfrm>
          <a:prstGeom prst="rect">
            <a:avLst/>
          </a:prstGeom>
          <a:noFill/>
        </p:spPr>
        <p:txBody>
          <a:bodyPr wrap="square" rtlCol="0">
            <a:spAutoFit/>
          </a:bodyPr>
          <a:lstStyle/>
          <a:p>
            <a:pPr marL="285750" indent="-285750">
              <a:buFont typeface="Arial" panose="020B0604020202020204" pitchFamily="34" charset="0"/>
              <a:buChar char="•"/>
            </a:pPr>
            <a:r>
              <a:rPr lang="en-US" sz="2800" dirty="0"/>
              <a:t>Sales department experiences the highest attrition</a:t>
            </a:r>
          </a:p>
          <a:p>
            <a:pPr marL="285750" indent="-285750">
              <a:buFont typeface="Arial" panose="020B0604020202020204" pitchFamily="34" charset="0"/>
              <a:buChar char="•"/>
            </a:pPr>
            <a:r>
              <a:rPr lang="en-US" sz="2800" dirty="0"/>
              <a:t>Entry-level employees (Job Level 1) are most likely to leave</a:t>
            </a:r>
          </a:p>
          <a:p>
            <a:pPr marL="285750" indent="-285750">
              <a:buFont typeface="Arial" panose="020B0604020202020204" pitchFamily="34" charset="0"/>
              <a:buChar char="•"/>
            </a:pPr>
            <a:r>
              <a:rPr lang="en-US" sz="2800" dirty="0"/>
              <a:t>Employees aged between 30 and 40 show peak attrition rates</a:t>
            </a:r>
          </a:p>
          <a:p>
            <a:pPr marL="285750" indent="-285750">
              <a:buFont typeface="Arial" panose="020B0604020202020204" pitchFamily="34" charset="0"/>
              <a:buChar char="•"/>
            </a:pPr>
            <a:r>
              <a:rPr lang="en-US" sz="2800" dirty="0"/>
              <a:t>Overtime work is strongly linked to higher attrition</a:t>
            </a:r>
          </a:p>
          <a:p>
            <a:pPr marL="285750" indent="-285750">
              <a:buFont typeface="Arial" panose="020B0604020202020204" pitchFamily="34" charset="0"/>
              <a:buChar char="•"/>
            </a:pPr>
            <a:r>
              <a:rPr lang="en-US" sz="2800" dirty="0"/>
              <a:t>Single employees are more likely to leave compared to married ones</a:t>
            </a:r>
          </a:p>
          <a:p>
            <a:endParaRPr lang="en-IN" dirty="0"/>
          </a:p>
        </p:txBody>
      </p:sp>
      <p:sp>
        <p:nvSpPr>
          <p:cNvPr id="5" name="Oval 4">
            <a:extLst>
              <a:ext uri="{FF2B5EF4-FFF2-40B4-BE49-F238E27FC236}">
                <a16:creationId xmlns:a16="http://schemas.microsoft.com/office/drawing/2014/main" id="{768822D2-4698-729E-8579-17B045724BA1}"/>
              </a:ext>
            </a:extLst>
          </p:cNvPr>
          <p:cNvSpPr/>
          <p:nvPr/>
        </p:nvSpPr>
        <p:spPr>
          <a:xfrm>
            <a:off x="10422194" y="147484"/>
            <a:ext cx="1769806" cy="126836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3152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BAC644-9611-617E-D86E-854C01BE2A61}"/>
              </a:ext>
            </a:extLst>
          </p:cNvPr>
          <p:cNvSpPr txBox="1"/>
          <p:nvPr/>
        </p:nvSpPr>
        <p:spPr>
          <a:xfrm>
            <a:off x="1052052" y="432619"/>
            <a:ext cx="6017342" cy="646331"/>
          </a:xfrm>
          <a:prstGeom prst="rect">
            <a:avLst/>
          </a:prstGeom>
          <a:noFill/>
        </p:spPr>
        <p:txBody>
          <a:bodyPr wrap="square" rtlCol="0">
            <a:spAutoFit/>
          </a:bodyPr>
          <a:lstStyle/>
          <a:p>
            <a:r>
              <a:rPr lang="en-IN" sz="3600" dirty="0"/>
              <a:t>RECOMMENDATIONS</a:t>
            </a:r>
          </a:p>
        </p:txBody>
      </p:sp>
      <p:sp>
        <p:nvSpPr>
          <p:cNvPr id="3" name="TextBox 2">
            <a:extLst>
              <a:ext uri="{FF2B5EF4-FFF2-40B4-BE49-F238E27FC236}">
                <a16:creationId xmlns:a16="http://schemas.microsoft.com/office/drawing/2014/main" id="{FD9DE8ED-D574-C454-7DF6-7537BCF31584}"/>
              </a:ext>
            </a:extLst>
          </p:cNvPr>
          <p:cNvSpPr txBox="1"/>
          <p:nvPr/>
        </p:nvSpPr>
        <p:spPr>
          <a:xfrm>
            <a:off x="1150374" y="1848465"/>
            <a:ext cx="7934632"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Reassess working conditions and growth opportunities in the Sales department</a:t>
            </a:r>
          </a:p>
          <a:p>
            <a:pPr marL="285750" indent="-285750">
              <a:buFont typeface="Arial" panose="020B0604020202020204" pitchFamily="34" charset="0"/>
              <a:buChar char="•"/>
            </a:pPr>
            <a:r>
              <a:rPr lang="en-US" sz="2800" dirty="0"/>
              <a:t>Design mentorship and career advancement programs for entry-level staff</a:t>
            </a:r>
          </a:p>
          <a:p>
            <a:pPr marL="285750" indent="-285750">
              <a:buFont typeface="Arial" panose="020B0604020202020204" pitchFamily="34" charset="0"/>
              <a:buChar char="•"/>
            </a:pPr>
            <a:r>
              <a:rPr lang="en-US" sz="2800" dirty="0"/>
              <a:t>Introduce flexible work options and tailored benefits for mid-aged employees</a:t>
            </a:r>
          </a:p>
          <a:p>
            <a:pPr marL="285750" indent="-285750">
              <a:buFont typeface="Arial" panose="020B0604020202020204" pitchFamily="34" charset="0"/>
              <a:buChar char="•"/>
            </a:pPr>
            <a:r>
              <a:rPr lang="en-US" sz="2800" dirty="0"/>
              <a:t>Monitor and manage employee overtime to avoid burnout</a:t>
            </a:r>
          </a:p>
          <a:p>
            <a:pPr marL="285750" indent="-285750">
              <a:buFont typeface="Arial" panose="020B0604020202020204" pitchFamily="34" charset="0"/>
              <a:buChar char="•"/>
            </a:pPr>
            <a:r>
              <a:rPr lang="en-US" sz="2800" dirty="0"/>
              <a:t>Engage single employees with inclusive and supportive programs</a:t>
            </a:r>
          </a:p>
          <a:p>
            <a:pPr marL="285750" indent="-285750">
              <a:buFont typeface="Arial" panose="020B0604020202020204" pitchFamily="34" charset="0"/>
              <a:buChar char="•"/>
            </a:pPr>
            <a:endParaRPr lang="en-IN" sz="2800" dirty="0"/>
          </a:p>
        </p:txBody>
      </p:sp>
      <p:sp>
        <p:nvSpPr>
          <p:cNvPr id="4" name="Rectangle 3">
            <a:extLst>
              <a:ext uri="{FF2B5EF4-FFF2-40B4-BE49-F238E27FC236}">
                <a16:creationId xmlns:a16="http://schemas.microsoft.com/office/drawing/2014/main" id="{94C1FE65-4838-5332-43BF-6164C157FA99}"/>
              </a:ext>
            </a:extLst>
          </p:cNvPr>
          <p:cNvSpPr/>
          <p:nvPr/>
        </p:nvSpPr>
        <p:spPr>
          <a:xfrm>
            <a:off x="9733935" y="0"/>
            <a:ext cx="245806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C98B950-23F7-2D40-8206-9FC7F648D270}"/>
              </a:ext>
            </a:extLst>
          </p:cNvPr>
          <p:cNvSpPr/>
          <p:nvPr/>
        </p:nvSpPr>
        <p:spPr>
          <a:xfrm>
            <a:off x="0" y="0"/>
            <a:ext cx="1150374" cy="4326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8052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ECAD19-D41E-EBA4-6D4B-233DBA24A43A}"/>
              </a:ext>
            </a:extLst>
          </p:cNvPr>
          <p:cNvSpPr txBox="1"/>
          <p:nvPr/>
        </p:nvSpPr>
        <p:spPr>
          <a:xfrm>
            <a:off x="3972233" y="1197217"/>
            <a:ext cx="5161935" cy="646331"/>
          </a:xfrm>
          <a:prstGeom prst="rect">
            <a:avLst/>
          </a:prstGeom>
          <a:noFill/>
        </p:spPr>
        <p:txBody>
          <a:bodyPr wrap="square" rtlCol="0">
            <a:spAutoFit/>
          </a:bodyPr>
          <a:lstStyle/>
          <a:p>
            <a:pPr algn="r"/>
            <a:r>
              <a:rPr lang="en-IN" sz="3600" dirty="0"/>
              <a:t>CONCLUSION</a:t>
            </a:r>
          </a:p>
        </p:txBody>
      </p:sp>
      <p:sp>
        <p:nvSpPr>
          <p:cNvPr id="3" name="TextBox 2">
            <a:extLst>
              <a:ext uri="{FF2B5EF4-FFF2-40B4-BE49-F238E27FC236}">
                <a16:creationId xmlns:a16="http://schemas.microsoft.com/office/drawing/2014/main" id="{4BAE8853-FEDF-AAC0-CE0D-6708388128C7}"/>
              </a:ext>
            </a:extLst>
          </p:cNvPr>
          <p:cNvSpPr txBox="1"/>
          <p:nvPr/>
        </p:nvSpPr>
        <p:spPr>
          <a:xfrm>
            <a:off x="1032387" y="2389239"/>
            <a:ext cx="8101781" cy="3046988"/>
          </a:xfrm>
          <a:prstGeom prst="rect">
            <a:avLst/>
          </a:prstGeom>
          <a:noFill/>
        </p:spPr>
        <p:txBody>
          <a:bodyPr wrap="square" rtlCol="0">
            <a:spAutoFit/>
          </a:bodyPr>
          <a:lstStyle/>
          <a:p>
            <a:pPr algn="r"/>
            <a:r>
              <a:rPr lang="en-US" sz="3200" dirty="0"/>
              <a:t>The analysis of employee attrition reveals that department, job level, age, overtime, and marital status are key influencing factors. By focusing on these areas, IBM can implement targeted strategies to reduce turnover and enhance employee satisfaction</a:t>
            </a:r>
            <a:endParaRPr lang="en-IN" sz="3200" dirty="0"/>
          </a:p>
        </p:txBody>
      </p:sp>
      <p:sp>
        <p:nvSpPr>
          <p:cNvPr id="4" name="Rectangle 3">
            <a:extLst>
              <a:ext uri="{FF2B5EF4-FFF2-40B4-BE49-F238E27FC236}">
                <a16:creationId xmlns:a16="http://schemas.microsoft.com/office/drawing/2014/main" id="{8D32E088-B9C6-2CA1-ED96-308007333546}"/>
              </a:ext>
            </a:extLst>
          </p:cNvPr>
          <p:cNvSpPr/>
          <p:nvPr/>
        </p:nvSpPr>
        <p:spPr>
          <a:xfrm>
            <a:off x="9429135" y="0"/>
            <a:ext cx="276286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7B9231E-3241-7CCA-6048-0976D9DF9B97}"/>
              </a:ext>
            </a:extLst>
          </p:cNvPr>
          <p:cNvSpPr/>
          <p:nvPr/>
        </p:nvSpPr>
        <p:spPr>
          <a:xfrm>
            <a:off x="0" y="0"/>
            <a:ext cx="9429135"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7230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7E4E62-A83B-9FCA-6F11-09B4B23D78BF}"/>
              </a:ext>
            </a:extLst>
          </p:cNvPr>
          <p:cNvSpPr txBox="1"/>
          <p:nvPr/>
        </p:nvSpPr>
        <p:spPr>
          <a:xfrm>
            <a:off x="1641987" y="1632155"/>
            <a:ext cx="7256207" cy="769441"/>
          </a:xfrm>
          <a:prstGeom prst="rect">
            <a:avLst/>
          </a:prstGeom>
          <a:noFill/>
        </p:spPr>
        <p:txBody>
          <a:bodyPr wrap="square" rtlCol="0">
            <a:spAutoFit/>
          </a:bodyPr>
          <a:lstStyle/>
          <a:p>
            <a:r>
              <a:rPr lang="en-IN" sz="4400" dirty="0"/>
              <a:t>THANK YOU!!</a:t>
            </a:r>
          </a:p>
        </p:txBody>
      </p:sp>
    </p:spTree>
    <p:extLst>
      <p:ext uri="{BB962C8B-B14F-4D97-AF65-F5344CB8AC3E}">
        <p14:creationId xmlns:p14="http://schemas.microsoft.com/office/powerpoint/2010/main" val="188764880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2167</TotalTime>
  <Words>309</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Corbel</vt:lpstr>
      <vt:lpstr>DM Sans</vt:lpstr>
      <vt:lpstr>DM Sans Bold</vt:lpstr>
      <vt:lpstr>Wingdings 2</vt:lpstr>
      <vt:lpstr>Frame</vt:lpstr>
      <vt:lpstr>IBM HR ANALYTICS  EMPLOYEE ATTRITION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ANUPAMA P</dc:creator>
  <cp:lastModifiedBy>ANUPAMA P</cp:lastModifiedBy>
  <cp:revision>1</cp:revision>
  <dcterms:created xsi:type="dcterms:W3CDTF">2025-06-05T06:24:08Z</dcterms:created>
  <dcterms:modified xsi:type="dcterms:W3CDTF">2025-08-14T01:21:38Z</dcterms:modified>
</cp:coreProperties>
</file>